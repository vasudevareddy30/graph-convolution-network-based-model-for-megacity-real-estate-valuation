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3" r:id="rId12"/>
    <p:sldId id="285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6" r:id="rId21"/>
    <p:sldId id="277" r:id="rId22"/>
    <p:sldId id="278" r:id="rId23"/>
    <p:sldId id="272" r:id="rId24"/>
    <p:sldId id="280" r:id="rId25"/>
    <p:sldId id="279" r:id="rId26"/>
    <p:sldId id="273" r:id="rId27"/>
    <p:sldId id="274" r:id="rId28"/>
    <p:sldId id="275" r:id="rId29"/>
  </p:sldIdLst>
  <p:sldSz cx="12192000" cy="6858000"/>
  <p:notesSz cx="12192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91" y="10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7340" y="427355"/>
            <a:ext cx="2507615" cy="405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268224"/>
            <a:ext cx="7393305" cy="895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205" y="1301368"/>
            <a:ext cx="9103995" cy="2006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2000" y="182879"/>
            <a:ext cx="10367772" cy="16230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701" y="1959991"/>
            <a:ext cx="8035925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DEPARTMENTOF</a:t>
            </a:r>
            <a:r>
              <a:rPr sz="20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COPUTER</a:t>
            </a:r>
            <a:r>
              <a:rPr sz="20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SCIENCEAND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ENGINEERING(AI&amp;ML)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99720" algn="ctr">
              <a:lnSpc>
                <a:spcPct val="100000"/>
              </a:lnSpc>
              <a:spcBef>
                <a:spcPts val="1560"/>
              </a:spcBef>
            </a:pP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MAJOR</a:t>
            </a:r>
            <a:r>
              <a:rPr sz="20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20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REVIEW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ON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4085" y="2961500"/>
            <a:ext cx="7378065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8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Graph</a:t>
            </a:r>
            <a:r>
              <a:rPr sz="2200" b="1" spc="-1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Convolutional</a:t>
            </a:r>
            <a:r>
              <a:rPr sz="2200" b="1" spc="-1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Network-</a:t>
            </a:r>
            <a:r>
              <a:rPr sz="2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2200" b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200" b="1" spc="-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200" b="1" spc="-9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Megacity</a:t>
            </a:r>
            <a:r>
              <a:rPr sz="2200" b="1" spc="-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Real </a:t>
            </a:r>
            <a:r>
              <a:rPr sz="22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Estate</a:t>
            </a:r>
            <a:r>
              <a:rPr sz="2200" b="1" spc="-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Valuation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5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5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5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AIML</a:t>
            </a:r>
            <a:r>
              <a:rPr sz="15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5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MJOB8</a:t>
            </a:r>
            <a:endParaRPr sz="15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010272" y="4474108"/>
            <a:ext cx="2209800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latin typeface="Arial" panose="020B0604020202020204"/>
                <a:cs typeface="Arial" panose="020B0604020202020204"/>
              </a:rPr>
              <a:t>A.SHRUTI G.MAHITHA S.JHANSI </a:t>
            </a:r>
            <a:r>
              <a:rPr sz="1700" b="1" spc="-35" dirty="0">
                <a:latin typeface="Arial" panose="020B0604020202020204"/>
                <a:cs typeface="Arial" panose="020B0604020202020204"/>
              </a:rPr>
              <a:t>K.VASUDEVA</a:t>
            </a:r>
            <a:r>
              <a:rPr sz="17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REDDY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96272" y="4474108"/>
            <a:ext cx="1365885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latin typeface="Arial" panose="020B0604020202020204"/>
                <a:cs typeface="Arial" panose="020B0604020202020204"/>
              </a:rPr>
              <a:t>228R1A6668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6195">
              <a:lnSpc>
                <a:spcPct val="100000"/>
              </a:lnSpc>
            </a:pPr>
            <a:r>
              <a:rPr sz="1700" b="1" spc="-10" dirty="0">
                <a:latin typeface="Arial" panose="020B0604020202020204"/>
                <a:cs typeface="Arial" panose="020B0604020202020204"/>
              </a:rPr>
              <a:t>228R1A6687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47625">
              <a:lnSpc>
                <a:spcPct val="100000"/>
              </a:lnSpc>
            </a:pPr>
            <a:r>
              <a:rPr sz="1700" b="1" spc="-10" dirty="0">
                <a:latin typeface="Arial" panose="020B0604020202020204"/>
                <a:cs typeface="Arial" panose="020B0604020202020204"/>
              </a:rPr>
              <a:t>228R1A66C2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91440">
              <a:lnSpc>
                <a:spcPct val="100000"/>
              </a:lnSpc>
            </a:pPr>
            <a:r>
              <a:rPr sz="1700" b="1" spc="-10" dirty="0">
                <a:latin typeface="Arial" panose="020B0604020202020204"/>
                <a:cs typeface="Arial" panose="020B0604020202020204"/>
              </a:rPr>
              <a:t>228R1A6698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47800" y="4458970"/>
            <a:ext cx="2167890" cy="109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1305" indent="15240">
              <a:lnSpc>
                <a:spcPct val="100000"/>
              </a:lnSpc>
              <a:spcBef>
                <a:spcPts val="105"/>
              </a:spcBef>
            </a:pPr>
            <a:r>
              <a:rPr sz="1700" b="1" spc="-50" dirty="0">
                <a:latin typeface="Arial" panose="020B0604020202020204"/>
                <a:cs typeface="Arial" panose="020B0604020202020204"/>
              </a:rPr>
              <a:t>INTERNAL</a:t>
            </a:r>
            <a:r>
              <a:rPr sz="17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GUIDE: Mrs.M.SRIKALA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5875" marR="5080" indent="6350">
              <a:lnSpc>
                <a:spcPct val="104000"/>
              </a:lnSpc>
              <a:spcBef>
                <a:spcPts val="85"/>
              </a:spcBef>
            </a:pPr>
            <a:r>
              <a:rPr sz="1700" b="1" spc="-35" dirty="0">
                <a:latin typeface="Arial" panose="020B0604020202020204"/>
                <a:cs typeface="Arial" panose="020B0604020202020204"/>
              </a:rPr>
              <a:t>Assistant</a:t>
            </a:r>
            <a:r>
              <a:rPr sz="17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professor </a:t>
            </a:r>
            <a:r>
              <a:rPr sz="1700" b="1" spc="-35" dirty="0">
                <a:latin typeface="Arial" panose="020B0604020202020204"/>
                <a:cs typeface="Arial" panose="020B0604020202020204"/>
              </a:rPr>
              <a:t>DEPT</a:t>
            </a:r>
            <a:r>
              <a:rPr sz="17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25" dirty="0">
                <a:latin typeface="Arial" panose="020B0604020202020204"/>
                <a:cs typeface="Arial" panose="020B0604020202020204"/>
              </a:rPr>
              <a:t>OF</a:t>
            </a:r>
            <a:r>
              <a:rPr sz="1700" b="1" spc="-254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60" dirty="0">
                <a:latin typeface="Arial" panose="020B0604020202020204"/>
                <a:cs typeface="Arial" panose="020B0604020202020204"/>
              </a:rPr>
              <a:t>CSE(AI&amp;ML)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761"/>
                </a:lnTo>
                <a:lnTo>
                  <a:pt x="4572" y="761"/>
                </a:lnTo>
                <a:lnTo>
                  <a:pt x="762" y="4572"/>
                </a:lnTo>
                <a:lnTo>
                  <a:pt x="4572" y="4572"/>
                </a:lnTo>
                <a:lnTo>
                  <a:pt x="4572" y="6853428"/>
                </a:lnTo>
                <a:lnTo>
                  <a:pt x="762" y="6853428"/>
                </a:lnTo>
                <a:lnTo>
                  <a:pt x="4572" y="6857238"/>
                </a:lnTo>
                <a:lnTo>
                  <a:pt x="12192000" y="6857238"/>
                </a:lnTo>
                <a:lnTo>
                  <a:pt x="12192000" y="6858000"/>
                </a:lnTo>
                <a:close/>
              </a:path>
              <a:path w="12192000" h="6858000">
                <a:moveTo>
                  <a:pt x="4572" y="4572"/>
                </a:moveTo>
                <a:lnTo>
                  <a:pt x="762" y="4572"/>
                </a:lnTo>
                <a:lnTo>
                  <a:pt x="4572" y="761"/>
                </a:lnTo>
                <a:lnTo>
                  <a:pt x="4572" y="4572"/>
                </a:lnTo>
                <a:close/>
              </a:path>
              <a:path w="12192000" h="6858000">
                <a:moveTo>
                  <a:pt x="12187428" y="4572"/>
                </a:moveTo>
                <a:lnTo>
                  <a:pt x="4572" y="4572"/>
                </a:lnTo>
                <a:lnTo>
                  <a:pt x="4572" y="761"/>
                </a:lnTo>
                <a:lnTo>
                  <a:pt x="12187428" y="761"/>
                </a:lnTo>
                <a:lnTo>
                  <a:pt x="12187428" y="4572"/>
                </a:lnTo>
                <a:close/>
              </a:path>
              <a:path w="12192000" h="6858000">
                <a:moveTo>
                  <a:pt x="12187428" y="6857238"/>
                </a:moveTo>
                <a:lnTo>
                  <a:pt x="12187428" y="761"/>
                </a:lnTo>
                <a:lnTo>
                  <a:pt x="12191238" y="4572"/>
                </a:lnTo>
                <a:lnTo>
                  <a:pt x="12192000" y="4572"/>
                </a:lnTo>
                <a:lnTo>
                  <a:pt x="12192000" y="6853428"/>
                </a:lnTo>
                <a:lnTo>
                  <a:pt x="12191238" y="6853428"/>
                </a:lnTo>
                <a:lnTo>
                  <a:pt x="12187428" y="6857238"/>
                </a:lnTo>
                <a:close/>
              </a:path>
              <a:path w="12192000" h="6858000">
                <a:moveTo>
                  <a:pt x="12192000" y="4572"/>
                </a:moveTo>
                <a:lnTo>
                  <a:pt x="12191238" y="4572"/>
                </a:lnTo>
                <a:lnTo>
                  <a:pt x="12187428" y="761"/>
                </a:lnTo>
                <a:lnTo>
                  <a:pt x="12192000" y="761"/>
                </a:lnTo>
                <a:lnTo>
                  <a:pt x="12192000" y="4572"/>
                </a:lnTo>
                <a:close/>
              </a:path>
              <a:path w="12192000" h="6858000">
                <a:moveTo>
                  <a:pt x="4572" y="6857238"/>
                </a:moveTo>
                <a:lnTo>
                  <a:pt x="762" y="6853428"/>
                </a:lnTo>
                <a:lnTo>
                  <a:pt x="4572" y="6853428"/>
                </a:lnTo>
                <a:lnTo>
                  <a:pt x="4572" y="6857238"/>
                </a:lnTo>
                <a:close/>
              </a:path>
              <a:path w="12192000" h="6858000">
                <a:moveTo>
                  <a:pt x="12187428" y="6857238"/>
                </a:moveTo>
                <a:lnTo>
                  <a:pt x="4572" y="6857238"/>
                </a:lnTo>
                <a:lnTo>
                  <a:pt x="4572" y="6853428"/>
                </a:lnTo>
                <a:lnTo>
                  <a:pt x="12187428" y="6853428"/>
                </a:lnTo>
                <a:lnTo>
                  <a:pt x="12187428" y="6857238"/>
                </a:lnTo>
                <a:close/>
              </a:path>
              <a:path w="12192000" h="6858000">
                <a:moveTo>
                  <a:pt x="12192000" y="6857238"/>
                </a:moveTo>
                <a:lnTo>
                  <a:pt x="12187428" y="6857238"/>
                </a:lnTo>
                <a:lnTo>
                  <a:pt x="12191238" y="6853428"/>
                </a:lnTo>
                <a:lnTo>
                  <a:pt x="12192000" y="6853428"/>
                </a:lnTo>
                <a:lnTo>
                  <a:pt x="12192000" y="68572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5800" y="801940"/>
            <a:ext cx="2232660" cy="2865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5800" y="1518167"/>
            <a:ext cx="505841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591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Abstract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survey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Statement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Justification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Objectives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Proposed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Methodologies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UML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Diagrams</a:t>
            </a:r>
            <a:endParaRPr lang="en-US" sz="2400" spc="-1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lang="en-IN" sz="2400" spc="-10" dirty="0">
                <a:latin typeface="Times New Roman" panose="02020603050405020304"/>
                <a:cs typeface="Times New Roman" panose="02020603050405020304"/>
              </a:rPr>
              <a:t>Implementation of code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Output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Scope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project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Conclusion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8600" y="1213103"/>
              <a:ext cx="2895600" cy="29672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12187428" y="0"/>
                  </a:lnTo>
                  <a:lnTo>
                    <a:pt x="12187428" y="5080"/>
                  </a:lnTo>
                  <a:lnTo>
                    <a:pt x="12187428" y="6852920"/>
                  </a:lnTo>
                  <a:lnTo>
                    <a:pt x="4572" y="6852920"/>
                  </a:lnTo>
                  <a:lnTo>
                    <a:pt x="4572" y="5080"/>
                  </a:lnTo>
                  <a:lnTo>
                    <a:pt x="12187428" y="5080"/>
                  </a:lnTo>
                  <a:lnTo>
                    <a:pt x="121874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685292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857238"/>
                  </a:lnTo>
                  <a:lnTo>
                    <a:pt x="12192000" y="6853428"/>
                  </a:lnTo>
                  <a:lnTo>
                    <a:pt x="12192000" y="6852920"/>
                  </a:lnTo>
                  <a:lnTo>
                    <a:pt x="12192000" y="4572"/>
                  </a:lnTo>
                  <a:lnTo>
                    <a:pt x="12192000" y="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994" rIns="0" bIns="0" rtlCol="0">
            <a:spAutoFit/>
          </a:bodyPr>
          <a:lstStyle/>
          <a:p>
            <a:pPr marL="80962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ABSTRACT </a:t>
            </a:r>
            <a:r>
              <a:rPr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pc="-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1468475"/>
            <a:ext cx="9374505" cy="404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99695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estate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challenging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due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prices,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complex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influencing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factors,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uncertain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attributes.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8450" marR="278765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22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valuation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crucial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because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demand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both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owner-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occupied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investment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properties.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80" dirty="0">
                <a:latin typeface="Times New Roman" panose="02020603050405020304"/>
                <a:cs typeface="Times New Roman" panose="02020603050405020304"/>
              </a:rPr>
              <a:t>A-</a:t>
            </a:r>
            <a:r>
              <a:rPr sz="2200" b="1" spc="-45" dirty="0">
                <a:latin typeface="Times New Roman" panose="02020603050405020304"/>
                <a:cs typeface="Times New Roman" panose="02020603050405020304"/>
              </a:rPr>
              <a:t>SRGCNN</a:t>
            </a:r>
            <a:r>
              <a:rPr sz="22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improved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version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SRGCNN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external </a:t>
            </a:r>
            <a:r>
              <a:rPr sz="2200" b="1" spc="-30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22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mechanism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tested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datasets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35" dirty="0">
                <a:latin typeface="Times New Roman" panose="02020603050405020304"/>
                <a:cs typeface="Times New Roman" panose="02020603050405020304"/>
              </a:rPr>
              <a:t>Shanghai,</a:t>
            </a:r>
            <a:r>
              <a:rPr sz="22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40" dirty="0">
                <a:latin typeface="Times New Roman" panose="02020603050405020304"/>
                <a:cs typeface="Times New Roman" panose="02020603050405020304"/>
              </a:rPr>
              <a:t>Melbourne,</a:t>
            </a:r>
            <a:r>
              <a:rPr sz="22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San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Diego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A-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SRGCNN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effectively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captures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relationships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property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Outperforms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benchmark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accuracy.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8450" marR="1040765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Zonal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time-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division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experiments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Shanghai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show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price </a:t>
            </a:r>
            <a:r>
              <a:rPr sz="2200" b="1" spc="-40" dirty="0">
                <a:latin typeface="Times New Roman" panose="02020603050405020304"/>
                <a:cs typeface="Times New Roman" panose="02020603050405020304"/>
              </a:rPr>
              <a:t>aggregation</a:t>
            </a:r>
            <a:r>
              <a:rPr sz="22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(similar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prices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zones).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Demonstrates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potential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40" dirty="0">
                <a:latin typeface="Times New Roman" panose="02020603050405020304"/>
                <a:cs typeface="Times New Roman" panose="02020603050405020304"/>
              </a:rPr>
              <a:t>megacity</a:t>
            </a:r>
            <a:r>
              <a:rPr sz="22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22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estate</a:t>
            </a:r>
            <a:r>
              <a:rPr sz="22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valuation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/>
                <a:cs typeface="Times New Roman" panose="02020603050405020304"/>
              </a:rPr>
              <a:t>INTRODUCTION: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217784" y="1791360"/>
            <a:ext cx="12738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fluctuations,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1461287"/>
            <a:ext cx="10659745" cy="370776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16560" indent="-40386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41592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estate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valuation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vital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urban</a:t>
            </a:r>
            <a:r>
              <a:rPr sz="20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planning,</a:t>
            </a: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investment,</a:t>
            </a:r>
            <a:r>
              <a:rPr sz="20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housing</a:t>
            </a:r>
            <a:r>
              <a:rPr sz="20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policies</a:t>
            </a: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megacities.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5600" marR="1449705" indent="-342900">
              <a:lnSpc>
                <a:spcPts val="2360"/>
              </a:lnSpc>
              <a:spcBef>
                <a:spcPts val="315"/>
              </a:spcBef>
              <a:buChar char="•"/>
              <a:tabLst>
                <a:tab pos="355600" algn="l"/>
                <a:tab pos="41592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difficult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due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to: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Complex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factors,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Rapid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market Strong</a:t>
            </a:r>
            <a:r>
              <a:rPr sz="2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interdependence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2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property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attributes.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16560" indent="-403860">
              <a:lnSpc>
                <a:spcPts val="2205"/>
              </a:lnSpc>
              <a:buFont typeface="Arial MT"/>
              <a:buChar char="•"/>
              <a:tabLst>
                <a:tab pos="41592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Traditional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struggle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non-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linear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relationships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dependencies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>
              <a:lnSpc>
                <a:spcPts val="2360"/>
              </a:lnSpc>
              <a:spcBef>
                <a:spcPts val="275"/>
              </a:spcBef>
              <a:buChar char="•"/>
              <a:tabLst>
                <a:tab pos="355600" algn="l"/>
                <a:tab pos="41592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Graph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Convolutional</a:t>
            </a:r>
            <a:r>
              <a:rPr sz="20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Neural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Networks</a:t>
            </a:r>
            <a:r>
              <a:rPr sz="20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(GCNNs)</a:t>
            </a: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structures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capture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property linkages.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16560" indent="-403860">
              <a:lnSpc>
                <a:spcPts val="2175"/>
              </a:lnSpc>
              <a:buFont typeface="Arial MT"/>
              <a:buChar char="•"/>
              <a:tabLst>
                <a:tab pos="41592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A-</a:t>
            </a:r>
            <a:r>
              <a:rPr sz="2000" b="1" spc="-40" dirty="0">
                <a:latin typeface="Times New Roman" panose="02020603050405020304"/>
                <a:cs typeface="Times New Roman" panose="02020603050405020304"/>
              </a:rPr>
              <a:t>SRGCNN</a:t>
            </a: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023620" lvl="1" indent="-248920">
              <a:lnSpc>
                <a:spcPts val="2380"/>
              </a:lnSpc>
              <a:buAutoNum type="arabicPeriod"/>
              <a:tabLst>
                <a:tab pos="102298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SRGCNN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external</a:t>
            </a: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2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mechanism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023620" lvl="1" indent="-248920">
              <a:lnSpc>
                <a:spcPts val="2395"/>
              </a:lnSpc>
              <a:buAutoNum type="arabicPeriod"/>
              <a:tabLst>
                <a:tab pos="102298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extraction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generalizability.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16560" indent="-403860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Tested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datasets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Shanghai,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Melbourne,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San</a:t>
            </a:r>
            <a:r>
              <a:rPr sz="20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Diego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16560" indent="-403860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Achieves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higher</a:t>
            </a:r>
            <a:r>
              <a:rPr sz="20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benchmark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estate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valuation.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16560" indent="-403860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Contributes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driven,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property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20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megacities.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600" y="280924"/>
            <a:ext cx="3602354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SURVEY: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4200" y="1072692"/>
          <a:ext cx="10820400" cy="4939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447800"/>
                <a:gridCol w="838200"/>
                <a:gridCol w="3657600"/>
                <a:gridCol w="1143000"/>
                <a:gridCol w="3048000"/>
              </a:tblGrid>
              <a:tr h="657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Author(s)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Year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r>
                        <a:rPr sz="18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702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Type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of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Remarks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1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Zhao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al.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2025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6038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Spatio-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Temporal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Graph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Neural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Network</a:t>
                      </a:r>
                      <a:r>
                        <a:rPr sz="1800" spc="-8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Urban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Home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Price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Forecasting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IEEE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Trans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9154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Requires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dense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spatio-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temporal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datasets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Li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al.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2024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58102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Spatial-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Graph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Learning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80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Urban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Housing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Price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Prediction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IEEE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Trans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9512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Needs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high-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resolution 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geospatial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data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Chen</a:t>
                      </a:r>
                      <a:r>
                        <a:rPr sz="1800" spc="-1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al.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2024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40259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Real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Estate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Price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Forecasting</a:t>
                      </a:r>
                      <a:r>
                        <a:rPr sz="1800" spc="-9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Using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Graph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Attention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Networks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IEEE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Trans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473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High</a:t>
                      </a:r>
                      <a:r>
                        <a:rPr sz="1800" spc="-9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computational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cost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due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attention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mechanism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b="1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Wang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al.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2024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3079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Urban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Housing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Price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Mapping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Using 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Deep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Graph</a:t>
                      </a:r>
                      <a:r>
                        <a:rPr sz="1800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Networks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IEEE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Conf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Limited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multi-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r>
                        <a:rPr sz="18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experiments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Yang</a:t>
                      </a:r>
                      <a:r>
                        <a:rPr sz="1800" spc="-9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al.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2023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27178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800" spc="-80" dirty="0">
                          <a:latin typeface="Calibri" panose="020F0502020204030204"/>
                          <a:cs typeface="Calibri" panose="020F0502020204030204"/>
                        </a:rPr>
                        <a:t>GCN-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Based</a:t>
                      </a:r>
                      <a:r>
                        <a:rPr sz="1800" spc="-8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Model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Megacity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Real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Estate</a:t>
                      </a:r>
                      <a:r>
                        <a:rPr sz="18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Valuation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IEEE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J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3787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Tested</a:t>
                      </a:r>
                      <a:r>
                        <a:rPr sz="1800" spc="-9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only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on</a:t>
                      </a:r>
                      <a:r>
                        <a:rPr sz="1800" spc="-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Shanghai dataset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335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95"/>
              </a:spcBef>
            </a:pPr>
            <a:r>
              <a:rPr spc="-8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414" y="1211059"/>
            <a:ext cx="10479405" cy="4242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25" marR="175895" indent="-10160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22225" algn="l"/>
                <a:tab pos="108585" algn="l"/>
              </a:tabLst>
            </a:pPr>
            <a:r>
              <a:rPr sz="2000" spc="-20" dirty="0">
                <a:latin typeface="Arial MT"/>
                <a:cs typeface="Arial MT"/>
              </a:rPr>
              <a:t>	The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existing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estate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valuation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system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mainly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depends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traditional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statistical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models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spc="-55" dirty="0">
                <a:latin typeface="Arial MT"/>
                <a:cs typeface="Arial MT"/>
              </a:rPr>
              <a:t>machine-</a:t>
            </a:r>
            <a:r>
              <a:rPr sz="2000" spc="-20" dirty="0">
                <a:latin typeface="Arial MT"/>
                <a:cs typeface="Arial MT"/>
              </a:rPr>
              <a:t>learning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methods.</a:t>
            </a:r>
            <a:endParaRPr sz="2000">
              <a:latin typeface="Arial MT"/>
              <a:cs typeface="Arial MT"/>
            </a:endParaRPr>
          </a:p>
          <a:p>
            <a:pPr marL="22225" marR="5080" indent="-10160">
              <a:lnSpc>
                <a:spcPct val="100000"/>
              </a:lnSpc>
              <a:buSzPct val="95000"/>
              <a:buChar char="•"/>
              <a:tabLst>
                <a:tab pos="22225" algn="l"/>
                <a:tab pos="108585" algn="l"/>
              </a:tabLst>
            </a:pPr>
            <a:r>
              <a:rPr sz="2000" spc="-25" dirty="0">
                <a:latin typeface="Arial MT"/>
                <a:cs typeface="Arial MT"/>
              </a:rPr>
              <a:t>	These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models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structured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fail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to</a:t>
            </a:r>
            <a:r>
              <a:rPr sz="20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capture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spatial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relationships</a:t>
            </a:r>
            <a:r>
              <a:rPr sz="2000" spc="-35" dirty="0">
                <a:latin typeface="Arial MT"/>
                <a:cs typeface="Arial MT"/>
              </a:rPr>
              <a:t>,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struggle</a:t>
            </a:r>
            <a:r>
              <a:rPr sz="20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to 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generalize</a:t>
            </a:r>
            <a:r>
              <a:rPr sz="2000" b="1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across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different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regions</a:t>
            </a:r>
            <a:r>
              <a:rPr sz="2000" spc="-20" dirty="0">
                <a:latin typeface="Arial MT"/>
                <a:cs typeface="Arial MT"/>
              </a:rPr>
              <a:t>,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do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not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consider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time-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based</a:t>
            </a:r>
            <a:r>
              <a:rPr sz="20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price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variations</a:t>
            </a:r>
            <a:r>
              <a:rPr sz="2000" spc="-10" dirty="0">
                <a:latin typeface="Arial MT"/>
                <a:cs typeface="Arial MT"/>
              </a:rPr>
              <a:t>, </a:t>
            </a:r>
            <a:r>
              <a:rPr sz="2000" spc="-20" dirty="0">
                <a:latin typeface="Arial MT"/>
                <a:cs typeface="Arial MT"/>
              </a:rPr>
              <a:t>making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predictions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accurate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real-</a:t>
            </a:r>
            <a:r>
              <a:rPr sz="2000" spc="-20" dirty="0">
                <a:latin typeface="Arial MT"/>
                <a:cs typeface="Arial MT"/>
              </a:rPr>
              <a:t>world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scenarios.</a:t>
            </a:r>
            <a:endParaRPr sz="2000">
              <a:latin typeface="Arial MT"/>
              <a:cs typeface="Arial MT"/>
            </a:endParaRPr>
          </a:p>
          <a:p>
            <a:pPr marL="276860" indent="-248920">
              <a:lnSpc>
                <a:spcPct val="100000"/>
              </a:lnSpc>
              <a:spcBef>
                <a:spcPts val="1760"/>
              </a:spcBef>
              <a:buAutoNum type="arabicPeriod"/>
              <a:tabLst>
                <a:tab pos="27686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Hedonic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Pricing</a:t>
            </a:r>
            <a:r>
              <a:rPr sz="18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Models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(HPMs)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794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linear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regression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property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features.</a:t>
            </a:r>
            <a:endParaRPr sz="18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Limitation: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handle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non-</a:t>
            </a:r>
            <a:r>
              <a:rPr sz="1800" dirty="0">
                <a:latin typeface="Arial MT"/>
                <a:cs typeface="Arial MT"/>
              </a:rPr>
              <a:t>linear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patterns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market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behavior.</a:t>
            </a:r>
            <a:endParaRPr sz="1800">
              <a:latin typeface="Arial MT"/>
              <a:cs typeface="Arial MT"/>
            </a:endParaRPr>
          </a:p>
          <a:p>
            <a:pPr marL="276860" indent="-248920">
              <a:lnSpc>
                <a:spcPct val="100000"/>
              </a:lnSpc>
              <a:buAutoNum type="arabicPeriod" startAt="2"/>
              <a:tabLst>
                <a:tab pos="276860" algn="l"/>
              </a:tabLst>
            </a:pPr>
            <a:r>
              <a:rPr sz="1800" b="1" spc="-30" dirty="0">
                <a:latin typeface="Arial" panose="020B0604020202020204"/>
                <a:cs typeface="Arial" panose="020B0604020202020204"/>
              </a:rPr>
              <a:t>Traditional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Machine</a:t>
            </a:r>
            <a:r>
              <a:rPr sz="18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Learning</a:t>
            </a:r>
            <a:r>
              <a:rPr sz="18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Models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794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Models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Forest,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Gradient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Boosting,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XGBoost.</a:t>
            </a:r>
            <a:endParaRPr sz="18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Limitation: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Treat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properties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independently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ignore</a:t>
            </a:r>
            <a:r>
              <a:rPr sz="1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spatial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dependencies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276860" indent="-248920">
              <a:lnSpc>
                <a:spcPct val="100000"/>
              </a:lnSpc>
              <a:buAutoNum type="arabicPeriod" startAt="3"/>
              <a:tabLst>
                <a:tab pos="27686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Spatial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Regression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Models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2794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Consider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geographical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influence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using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spatial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matrices.</a:t>
            </a:r>
            <a:endParaRPr sz="180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Limitation: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Require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predefined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spatial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assume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linear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relationships.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586105">
              <a:lnSpc>
                <a:spcPct val="100000"/>
              </a:lnSpc>
              <a:spcBef>
                <a:spcPts val="95"/>
              </a:spcBef>
            </a:pPr>
            <a:r>
              <a:rPr spc="-8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65" dirty="0">
                <a:latin typeface="Times New Roman" panose="02020603050405020304"/>
                <a:cs typeface="Times New Roman" panose="02020603050405020304"/>
              </a:rPr>
              <a:t>STATEMENT</a:t>
            </a:r>
            <a:r>
              <a:rPr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5" dirty="0">
                <a:latin typeface="Times New Roman" panose="02020603050405020304"/>
                <a:cs typeface="Times New Roman" panose="02020603050405020304"/>
              </a:rPr>
              <a:t>JUSTIFICATION</a:t>
            </a:r>
            <a:endParaRPr spc="-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8227" y="1435100"/>
            <a:ext cx="883475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5" indent="-196850">
              <a:lnSpc>
                <a:spcPct val="100000"/>
              </a:lnSpc>
              <a:spcBef>
                <a:spcPts val="100"/>
              </a:spcBef>
              <a:buSzPct val="92000"/>
              <a:buAutoNum type="arabicPeriod"/>
              <a:tabLst>
                <a:tab pos="229870" algn="l"/>
              </a:tabLst>
            </a:pPr>
            <a:r>
              <a:rPr sz="1800" spc="-10" dirty="0">
                <a:latin typeface="Arial MT"/>
                <a:cs typeface="Arial MT"/>
              </a:rPr>
              <a:t>Existing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estate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valuation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methods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inaccurate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results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because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ignore</a:t>
            </a:r>
            <a:endParaRPr sz="1800">
              <a:latin typeface="Arial MT"/>
              <a:cs typeface="Arial MT"/>
            </a:endParaRPr>
          </a:p>
          <a:p>
            <a:pPr marL="43180">
              <a:lnSpc>
                <a:spcPct val="100000"/>
              </a:lnSpc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spatial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relationships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properties.</a:t>
            </a:r>
            <a:endParaRPr sz="1800">
              <a:latin typeface="Arial MT"/>
              <a:cs typeface="Arial MT"/>
            </a:endParaRPr>
          </a:p>
          <a:p>
            <a:pPr marL="43180" marR="260985" indent="-42545">
              <a:lnSpc>
                <a:spcPct val="100000"/>
              </a:lnSpc>
              <a:buSzPct val="72000"/>
              <a:buAutoNum type="arabicPeriod" startAt="2"/>
              <a:tabLst>
                <a:tab pos="43180" algn="l"/>
                <a:tab pos="161290" algn="l"/>
              </a:tabLst>
            </a:pPr>
            <a:r>
              <a:rPr sz="1800" spc="-10" dirty="0">
                <a:latin typeface="Arial MT"/>
                <a:cs typeface="Arial MT"/>
              </a:rPr>
              <a:t>Traditional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ML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depend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tabular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data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fail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generalize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 cities.</a:t>
            </a:r>
            <a:endParaRPr sz="1800">
              <a:latin typeface="Arial MT"/>
              <a:cs typeface="Arial MT"/>
            </a:endParaRPr>
          </a:p>
          <a:p>
            <a:pPr marL="230505" indent="-196850">
              <a:lnSpc>
                <a:spcPct val="100000"/>
              </a:lnSpc>
              <a:buSzPct val="92000"/>
              <a:buAutoNum type="arabicPeriod" startAt="2"/>
              <a:tabLst>
                <a:tab pos="229870" algn="l"/>
              </a:tabLst>
            </a:pP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struggle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limited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labeled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data</a:t>
            </a:r>
            <a:r>
              <a:rPr sz="18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available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training.</a:t>
            </a:r>
            <a:endParaRPr sz="1800">
              <a:latin typeface="Arial MT"/>
              <a:cs typeface="Arial MT"/>
            </a:endParaRPr>
          </a:p>
          <a:p>
            <a:pPr marL="43180" marR="403860" indent="-42545">
              <a:lnSpc>
                <a:spcPct val="100000"/>
              </a:lnSpc>
              <a:buSzPct val="72000"/>
              <a:buAutoNum type="arabicPeriod" startAt="2"/>
              <a:tabLst>
                <a:tab pos="43180" algn="l"/>
                <a:tab pos="161290" algn="l"/>
              </a:tabLst>
            </a:pP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no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55" dirty="0">
                <a:latin typeface="Arial" panose="020B0604020202020204"/>
                <a:cs typeface="Arial" panose="020B0604020202020204"/>
              </a:rPr>
              <a:t>real-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time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b="1" spc="-55" dirty="0">
                <a:latin typeface="Arial" panose="020B0604020202020204"/>
                <a:cs typeface="Arial" panose="020B0604020202020204"/>
              </a:rPr>
              <a:t>user-</a:t>
            </a:r>
            <a:r>
              <a:rPr sz="1800" b="1" dirty="0">
                <a:latin typeface="Arial" panose="020B0604020202020204"/>
                <a:cs typeface="Arial" panose="020B0604020202020204"/>
              </a:rPr>
              <a:t>friendly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system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property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prediction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current methods.</a:t>
            </a:r>
            <a:endParaRPr sz="1800">
              <a:latin typeface="Arial MT"/>
              <a:cs typeface="Arial MT"/>
            </a:endParaRPr>
          </a:p>
          <a:p>
            <a:pPr marL="43180" marR="5080" indent="-42545">
              <a:lnSpc>
                <a:spcPct val="100000"/>
              </a:lnSpc>
              <a:buSzPct val="72000"/>
              <a:buAutoNum type="arabicPeriod" startAt="2"/>
              <a:tabLst>
                <a:tab pos="43180" algn="l"/>
                <a:tab pos="16129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A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55" dirty="0">
                <a:latin typeface="Arial" panose="020B0604020202020204"/>
                <a:cs typeface="Arial" panose="020B0604020202020204"/>
              </a:rPr>
              <a:t>GCN-</a:t>
            </a:r>
            <a:r>
              <a:rPr sz="1800" b="1" dirty="0">
                <a:latin typeface="Arial" panose="020B0604020202020204"/>
                <a:cs typeface="Arial" panose="020B0604020202020204"/>
              </a:rPr>
              <a:t>based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approach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spatial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connections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 MT"/>
                <a:cs typeface="Arial MT"/>
              </a:rPr>
              <a:t>between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neighboring properties.</a:t>
            </a:r>
            <a:endParaRPr sz="1800">
              <a:latin typeface="Arial MT"/>
              <a:cs typeface="Arial MT"/>
            </a:endParaRPr>
          </a:p>
          <a:p>
            <a:pPr marL="43180" marR="8255" indent="-41275">
              <a:lnSpc>
                <a:spcPct val="100000"/>
              </a:lnSpc>
              <a:buSzPct val="61000"/>
              <a:buAutoNum type="arabicPeriod" startAt="2"/>
              <a:tabLst>
                <a:tab pos="43180" algn="l"/>
                <a:tab pos="141605" algn="l"/>
              </a:tabLst>
            </a:pPr>
            <a:r>
              <a:rPr sz="1800" b="1" spc="-55" dirty="0">
                <a:latin typeface="Arial" panose="020B0604020202020204"/>
                <a:cs typeface="Arial" panose="020B0604020202020204"/>
              </a:rPr>
              <a:t>Semi-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supervised</a:t>
            </a:r>
            <a:r>
              <a:rPr sz="18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learning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improve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accuracy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fewer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samples. </a:t>
            </a:r>
            <a:r>
              <a:rPr sz="1800" spc="-20" dirty="0">
                <a:latin typeface="Arial MT"/>
                <a:cs typeface="Arial MT"/>
              </a:rPr>
              <a:t>7.Integrating</a:t>
            </a:r>
            <a:r>
              <a:rPr sz="1800" spc="-1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Django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app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easy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access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better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usability,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scalable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92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/>
                <a:cs typeface="Times New Roman" panose="02020603050405020304"/>
              </a:rPr>
              <a:t>OBJECTIVES</a:t>
            </a:r>
            <a:r>
              <a:rPr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5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4375" y="1175156"/>
            <a:ext cx="10200640" cy="4911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 marR="5080" indent="-12065">
              <a:lnSpc>
                <a:spcPct val="100000"/>
              </a:lnSpc>
              <a:spcBef>
                <a:spcPts val="105"/>
              </a:spcBef>
              <a:buSzPct val="93000"/>
              <a:buChar char="•"/>
              <a:tabLst>
                <a:tab pos="24765" algn="l"/>
                <a:tab pos="111125" algn="l"/>
              </a:tabLst>
            </a:pPr>
            <a:r>
              <a:rPr sz="2000" spc="-20" dirty="0">
                <a:latin typeface="Arial MT"/>
                <a:cs typeface="Arial MT"/>
              </a:rPr>
              <a:t>	The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proposed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system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Graph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Convolutional</a:t>
            </a:r>
            <a:r>
              <a:rPr sz="20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Networks</a:t>
            </a:r>
            <a:r>
              <a:rPr sz="20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(GCNs)</a:t>
            </a:r>
            <a:r>
              <a:rPr sz="20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Arial MT"/>
                <a:cs typeface="Arial MT"/>
              </a:rPr>
              <a:t>combined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 </a:t>
            </a:r>
            <a:r>
              <a:rPr sz="2000" b="1" spc="-80" dirty="0">
                <a:latin typeface="Arial" panose="020B0604020202020204"/>
                <a:cs typeface="Arial" panose="020B0604020202020204"/>
              </a:rPr>
              <a:t>Django-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based</a:t>
            </a:r>
            <a:r>
              <a:rPr sz="2000" b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20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application</a:t>
            </a:r>
            <a:r>
              <a:rPr sz="20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provide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accurate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intelligent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estate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price </a:t>
            </a:r>
            <a:r>
              <a:rPr sz="2000" spc="-35" dirty="0">
                <a:latin typeface="Arial MT"/>
                <a:cs typeface="Arial MT"/>
              </a:rPr>
              <a:t>prediction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model.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Unlike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traditional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methods,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learns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spatial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relationships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between </a:t>
            </a:r>
            <a:r>
              <a:rPr sz="2000" spc="-30" dirty="0">
                <a:latin typeface="Arial MT"/>
                <a:cs typeface="Arial MT"/>
              </a:rPr>
              <a:t>properties,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limited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labeled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through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semi-</a:t>
            </a:r>
            <a:r>
              <a:rPr sz="2000" spc="-30" dirty="0">
                <a:latin typeface="Arial MT"/>
                <a:cs typeface="Arial MT"/>
              </a:rPr>
              <a:t>supervised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learning,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includes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interactive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platform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real-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predictions.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5400" marR="941070" indent="140970">
              <a:lnSpc>
                <a:spcPct val="100000"/>
              </a:lnSpc>
              <a:buFont typeface="Arial MT"/>
              <a:buChar char="•"/>
              <a:tabLst>
                <a:tab pos="16637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GCN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for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Spatial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Learning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nearby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properties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influence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other,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improving prediction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accuracy.</a:t>
            </a:r>
            <a:endParaRPr sz="1800">
              <a:latin typeface="Arial MT"/>
              <a:cs typeface="Arial MT"/>
            </a:endParaRPr>
          </a:p>
          <a:p>
            <a:pPr marL="25400" marR="1128395" indent="140970">
              <a:lnSpc>
                <a:spcPct val="100000"/>
              </a:lnSpc>
              <a:buFont typeface="Arial MT"/>
              <a:buChar char="•"/>
              <a:tabLst>
                <a:tab pos="16637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External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Attention</a:t>
            </a:r>
            <a:r>
              <a:rPr sz="18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Detects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hidden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relationships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better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generalization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across locations.</a:t>
            </a:r>
            <a:endParaRPr sz="1800">
              <a:latin typeface="Arial MT"/>
              <a:cs typeface="Arial MT"/>
            </a:endParaRPr>
          </a:p>
          <a:p>
            <a:pPr marL="25400" marR="1446530" indent="140970">
              <a:lnSpc>
                <a:spcPct val="100000"/>
              </a:lnSpc>
              <a:buFont typeface="Arial MT"/>
              <a:buChar char="•"/>
              <a:tabLst>
                <a:tab pos="166370" algn="l"/>
              </a:tabLst>
            </a:pPr>
            <a:r>
              <a:rPr sz="1800" b="1" spc="-55" dirty="0">
                <a:latin typeface="Arial" panose="020B0604020202020204"/>
                <a:cs typeface="Arial" panose="020B0604020202020204"/>
              </a:rPr>
              <a:t>Semi-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Supervised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Learning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well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limited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both </a:t>
            </a:r>
            <a:r>
              <a:rPr sz="1800" spc="-10" dirty="0">
                <a:latin typeface="Arial MT"/>
                <a:cs typeface="Arial MT"/>
              </a:rPr>
              <a:t>labeled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unlabeled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samples.</a:t>
            </a:r>
            <a:endParaRPr sz="1800">
              <a:latin typeface="Arial MT"/>
              <a:cs typeface="Arial MT"/>
            </a:endParaRPr>
          </a:p>
          <a:p>
            <a:pPr marL="25400" marR="833755" indent="140970">
              <a:lnSpc>
                <a:spcPct val="100000"/>
              </a:lnSpc>
              <a:buFont typeface="Arial MT"/>
              <a:buChar char="•"/>
              <a:tabLst>
                <a:tab pos="16637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Django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Application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Provides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login,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prediction,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past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history,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admin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controls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usage.</a:t>
            </a:r>
            <a:endParaRPr sz="1800">
              <a:latin typeface="Arial MT"/>
              <a:cs typeface="Arial MT"/>
            </a:endParaRPr>
          </a:p>
          <a:p>
            <a:pPr marL="166370" indent="-140970">
              <a:lnSpc>
                <a:spcPct val="100000"/>
              </a:lnSpc>
              <a:buFont typeface="Arial MT"/>
              <a:buChar char="•"/>
              <a:tabLst>
                <a:tab pos="16637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Cloud</a:t>
            </a:r>
            <a:r>
              <a:rPr sz="1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Deployment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Supports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AWS/Google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Cloud/Heroku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5" dirty="0">
                <a:latin typeface="Arial MT"/>
                <a:cs typeface="Arial MT"/>
              </a:rPr>
              <a:t> large-</a:t>
            </a:r>
            <a:r>
              <a:rPr sz="1800" dirty="0">
                <a:latin typeface="Arial MT"/>
                <a:cs typeface="Arial MT"/>
              </a:rPr>
              <a:t>scale,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fast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predictions.</a:t>
            </a:r>
            <a:endParaRPr sz="1800">
              <a:latin typeface="Arial MT"/>
              <a:cs typeface="Arial MT"/>
            </a:endParaRPr>
          </a:p>
          <a:p>
            <a:pPr marL="25400" marR="1010920" indent="140970">
              <a:lnSpc>
                <a:spcPct val="100000"/>
              </a:lnSpc>
              <a:buFont typeface="Arial MT"/>
              <a:buChar char="•"/>
              <a:tabLst>
                <a:tab pos="16637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High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Performance</a:t>
            </a:r>
            <a:r>
              <a:rPr sz="1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Achieves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rates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Forest,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XGBoost,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 </a:t>
            </a:r>
            <a:r>
              <a:rPr sz="1800" spc="-20" dirty="0">
                <a:latin typeface="Arial MT"/>
                <a:cs typeface="Arial MT"/>
              </a:rPr>
              <a:t>GCN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77467" y="1542288"/>
            <a:ext cx="9715500" cy="45323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799" rIns="0" bIns="0" rtlCol="0">
            <a:spAutoFit/>
          </a:bodyPr>
          <a:lstStyle/>
          <a:p>
            <a:pPr marL="814705">
              <a:lnSpc>
                <a:spcPct val="100000"/>
              </a:lnSpc>
              <a:spcBef>
                <a:spcPts val="95"/>
              </a:spcBef>
            </a:pPr>
            <a:r>
              <a:rPr dirty="0"/>
              <a:t>BLOCK</a:t>
            </a:r>
            <a:r>
              <a:rPr spc="-140" dirty="0"/>
              <a:t> </a:t>
            </a:r>
            <a:r>
              <a:rPr spc="-10" dirty="0"/>
              <a:t>DIAGRAM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Picture 21" descr="struct if srgcn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45" y="489585"/>
            <a:ext cx="10036175" cy="5387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extern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905" y="605155"/>
            <a:ext cx="10277475" cy="5240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Times New Roman" panose="02020603050405020304"/>
                <a:cs typeface="Times New Roman" panose="02020603050405020304"/>
              </a:rPr>
              <a:t>METHODOLOGIES</a:t>
            </a:r>
            <a:r>
              <a:rPr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7425" y="1587500"/>
            <a:ext cx="799147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675">
              <a:lnSpc>
                <a:spcPct val="100000"/>
              </a:lnSpc>
              <a:spcBef>
                <a:spcPts val="100"/>
              </a:spcBef>
              <a:buSzPct val="94000"/>
              <a:buAutoNum type="arabicPeriod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Data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Collection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Preprocessing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spc="-10" dirty="0">
                <a:latin typeface="Arial MT"/>
                <a:cs typeface="Arial MT"/>
              </a:rPr>
              <a:t>Collect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property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(location,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features).</a:t>
            </a:r>
            <a:endParaRPr sz="1800">
              <a:latin typeface="Arial MT"/>
              <a:cs typeface="Arial MT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Clean,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normalize,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prepare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graph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construction.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Graph</a:t>
            </a:r>
            <a:r>
              <a:rPr sz="18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Construction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spc="-10" dirty="0">
                <a:latin typeface="Arial MT"/>
                <a:cs typeface="Arial MT"/>
              </a:rPr>
              <a:t>Convert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properties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nodes.</a:t>
            </a:r>
            <a:endParaRPr sz="1800">
              <a:latin typeface="Arial MT"/>
              <a:cs typeface="Arial MT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edges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spatial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closeness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neighborhood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relationships.</a:t>
            </a:r>
            <a:endParaRPr sz="1800">
              <a:latin typeface="Arial MT"/>
              <a:cs typeface="Arial MT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spc="-10" dirty="0">
                <a:latin typeface="Arial MT"/>
                <a:cs typeface="Arial MT"/>
              </a:rPr>
              <a:t>Generate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adjacency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GCN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/>
              <a:tabLst>
                <a:tab pos="20574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Feature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Extraction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property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attributes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(size,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location,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etc.)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features.</a:t>
            </a:r>
            <a:endParaRPr sz="1800">
              <a:latin typeface="Arial MT"/>
              <a:cs typeface="Arial MT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Prepare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GCN.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GCN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Model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with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External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Attention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8825" lvl="1" indent="-283210">
              <a:lnSpc>
                <a:spcPct val="100000"/>
              </a:lnSpc>
              <a:buChar char="•"/>
              <a:tabLst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Apply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Graph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Convolutional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Networks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spatial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dependencies.</a:t>
            </a:r>
            <a:endParaRPr sz="1800">
              <a:latin typeface="Arial MT"/>
              <a:cs typeface="Arial MT"/>
            </a:endParaRPr>
          </a:p>
          <a:p>
            <a:pPr marL="760730" marR="38735" lvl="1" indent="-285750">
              <a:lnSpc>
                <a:spcPct val="100000"/>
              </a:lnSpc>
              <a:buChar char="•"/>
              <a:tabLst>
                <a:tab pos="760730" algn="l"/>
              </a:tabLst>
            </a:pP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External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Attention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(EA)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capture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hidden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relationships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improve accuracy.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339" y="1130300"/>
            <a:ext cx="775525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261620" algn="l"/>
              </a:tabLst>
            </a:pPr>
            <a:r>
              <a:rPr sz="1800" b="1" spc="-55" dirty="0">
                <a:latin typeface="Arial" panose="020B0604020202020204"/>
                <a:cs typeface="Arial" panose="020B0604020202020204"/>
              </a:rPr>
              <a:t>Semi-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Supervised</a:t>
            </a:r>
            <a:r>
              <a:rPr sz="18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Learning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spc="-10" dirty="0">
                <a:latin typeface="Arial MT"/>
                <a:cs typeface="Arial MT"/>
              </a:rPr>
              <a:t>Train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labeled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unlabeled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spc="-10" dirty="0">
                <a:latin typeface="Arial MT"/>
                <a:cs typeface="Arial MT"/>
              </a:rPr>
              <a:t>Helps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improve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performance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limited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datasets</a:t>
            </a:r>
            <a:endParaRPr sz="1800">
              <a:latin typeface="Arial MT"/>
              <a:cs typeface="Arial MT"/>
            </a:endParaRPr>
          </a:p>
          <a:p>
            <a:pPr marL="261620" indent="-248920">
              <a:lnSpc>
                <a:spcPct val="100000"/>
              </a:lnSpc>
              <a:buAutoNum type="arabicPeriod" startAt="5"/>
              <a:tabLst>
                <a:tab pos="26162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Model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Training</a:t>
            </a:r>
            <a:r>
              <a:rPr sz="18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Evaluation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spc="-10" dirty="0">
                <a:latin typeface="Arial MT"/>
                <a:cs typeface="Arial MT"/>
              </a:rPr>
              <a:t>Train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datasets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(e.g.,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Shanghai,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Melbourne).</a:t>
            </a:r>
            <a:endParaRPr sz="1800">
              <a:latin typeface="Arial MT"/>
              <a:cs typeface="Arial MT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dirty="0">
                <a:latin typeface="Arial MT"/>
                <a:cs typeface="Arial MT"/>
              </a:rPr>
              <a:t>Evaluate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rate,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accuracy,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existing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models.</a:t>
            </a:r>
            <a:endParaRPr sz="1800">
              <a:latin typeface="Arial MT"/>
              <a:cs typeface="Arial MT"/>
            </a:endParaRPr>
          </a:p>
          <a:p>
            <a:pPr marL="261620" indent="-248920">
              <a:lnSpc>
                <a:spcPct val="100000"/>
              </a:lnSpc>
              <a:buAutoNum type="arabicPeriod" startAt="5"/>
              <a:tabLst>
                <a:tab pos="261620" algn="l"/>
              </a:tabLst>
            </a:pPr>
            <a:r>
              <a:rPr sz="1800" b="1" spc="-35" dirty="0">
                <a:latin typeface="Arial" panose="020B0604020202020204"/>
                <a:cs typeface="Arial" panose="020B0604020202020204"/>
              </a:rPr>
              <a:t>Integration</a:t>
            </a:r>
            <a:r>
              <a:rPr sz="18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with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Django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Application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dirty="0">
                <a:latin typeface="Arial MT"/>
                <a:cs typeface="Arial MT"/>
              </a:rPr>
              <a:t>Deploy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trained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Django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backend.</a:t>
            </a:r>
            <a:endParaRPr sz="1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100000"/>
              </a:lnSpc>
              <a:buChar char="•"/>
              <a:tabLst>
                <a:tab pos="755015" algn="l"/>
              </a:tabLst>
            </a:pPr>
            <a:r>
              <a:rPr sz="1800" spc="-10" dirty="0">
                <a:latin typeface="Arial MT"/>
                <a:cs typeface="Arial MT"/>
              </a:rPr>
              <a:t>Provide</a:t>
            </a:r>
            <a:r>
              <a:rPr sz="1800" spc="-1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features: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login,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property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prediction,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 history.</a:t>
            </a:r>
            <a:endParaRPr sz="1800">
              <a:latin typeface="Arial MT"/>
              <a:cs typeface="Arial MT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spc="-10" dirty="0">
                <a:latin typeface="Arial MT"/>
                <a:cs typeface="Arial MT"/>
              </a:rPr>
              <a:t>Provide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admin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management,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monitoring.</a:t>
            </a:r>
            <a:endParaRPr sz="1800">
              <a:latin typeface="Arial MT"/>
              <a:cs typeface="Arial MT"/>
            </a:endParaRPr>
          </a:p>
          <a:p>
            <a:pPr marL="261620" indent="-248920">
              <a:lnSpc>
                <a:spcPct val="100000"/>
              </a:lnSpc>
              <a:buAutoNum type="arabicPeriod" startAt="5"/>
              <a:tabLst>
                <a:tab pos="26162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Deployment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Cloud</a:t>
            </a:r>
            <a:r>
              <a:rPr sz="18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Support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dirty="0">
                <a:latin typeface="Arial MT"/>
                <a:cs typeface="Arial MT"/>
              </a:rPr>
              <a:t>Deploy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application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AWS/Google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Cloud/Heroku.</a:t>
            </a:r>
            <a:endParaRPr sz="1800">
              <a:latin typeface="Arial MT"/>
              <a:cs typeface="Arial MT"/>
            </a:endParaRPr>
          </a:p>
          <a:p>
            <a:pPr marL="753110" lvl="1" indent="-283845">
              <a:lnSpc>
                <a:spcPct val="100000"/>
              </a:lnSpc>
              <a:buChar char="•"/>
              <a:tabLst>
                <a:tab pos="753110" algn="l"/>
              </a:tabLst>
            </a:pPr>
            <a:r>
              <a:rPr sz="1800" dirty="0">
                <a:latin typeface="Arial MT"/>
                <a:cs typeface="Arial MT"/>
              </a:rPr>
              <a:t>Enable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time,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scalable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predictions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users.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594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425" y="1282700"/>
            <a:ext cx="908621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675">
              <a:lnSpc>
                <a:spcPct val="100000"/>
              </a:lnSpc>
              <a:spcBef>
                <a:spcPts val="100"/>
              </a:spcBef>
              <a:buSzPct val="94000"/>
              <a:buAutoNum type="arabicPeriod"/>
              <a:tabLst>
                <a:tab pos="20574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Collect</a:t>
            </a:r>
            <a:r>
              <a:rPr sz="1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Data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Gather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property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details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location,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size,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price.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 startAt="2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Prepare</a:t>
            </a:r>
            <a:r>
              <a:rPr sz="1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Data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Clean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remove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missing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organize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properly.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 startAt="3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Create</a:t>
            </a:r>
            <a:r>
              <a:rPr sz="18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Graph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Treat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property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connect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nearby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properties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spatial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relationships.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 startAt="4"/>
              <a:tabLst>
                <a:tab pos="205740" algn="l"/>
              </a:tabLst>
            </a:pPr>
            <a:r>
              <a:rPr sz="1800" b="1" dirty="0">
                <a:latin typeface="Arial" panose="020B0604020202020204"/>
                <a:cs typeface="Arial" panose="020B0604020202020204"/>
              </a:rPr>
              <a:t>Design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GCN</a:t>
            </a:r>
            <a:r>
              <a:rPr sz="1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Model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Build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Graph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Convolutional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Network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External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Attention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patterns.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 startAt="5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Train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latin typeface="Arial" panose="020B0604020202020204"/>
                <a:cs typeface="Arial" panose="020B0604020202020204"/>
              </a:rPr>
              <a:t>Model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labeled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unlabeled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improve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accuracy.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 startAt="6"/>
              <a:tabLst>
                <a:tab pos="205740" algn="l"/>
              </a:tabLst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Build</a:t>
            </a:r>
            <a:r>
              <a:rPr sz="18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114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1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Application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Create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Django-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details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predictions.</a:t>
            </a:r>
            <a:endParaRPr sz="1800">
              <a:latin typeface="Arial MT"/>
              <a:cs typeface="Arial MT"/>
            </a:endParaRPr>
          </a:p>
          <a:p>
            <a:pPr marL="205740" indent="-193675">
              <a:lnSpc>
                <a:spcPct val="100000"/>
              </a:lnSpc>
              <a:buSzPct val="94000"/>
              <a:buAutoNum type="arabicPeriod" startAt="7"/>
              <a:tabLst>
                <a:tab pos="205740" algn="l"/>
              </a:tabLst>
            </a:pPr>
            <a:r>
              <a:rPr sz="1800" b="1" spc="-20" dirty="0">
                <a:latin typeface="Arial" panose="020B0604020202020204"/>
                <a:cs typeface="Arial" panose="020B0604020202020204"/>
              </a:rPr>
              <a:t>Deploy</a:t>
            </a:r>
            <a:r>
              <a:rPr sz="1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the</a:t>
            </a:r>
            <a:r>
              <a:rPr sz="1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System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841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Host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application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cloud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anywhere.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UML</a:t>
            </a:r>
            <a:r>
              <a:rPr spc="-140" dirty="0"/>
              <a:t> </a:t>
            </a:r>
            <a:r>
              <a:rPr spc="-10" dirty="0"/>
              <a:t>DIAGRAMS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26991" y="1572767"/>
            <a:ext cx="2369819" cy="47899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5555" y="1169034"/>
            <a:ext cx="1654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 panose="020B0604020202020204"/>
                <a:cs typeface="Arial" panose="020B0604020202020204"/>
              </a:rPr>
              <a:t>Class</a:t>
            </a:r>
            <a:r>
              <a:rPr sz="1800" b="1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Diagram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99711" y="0"/>
            <a:ext cx="7393305" cy="895984"/>
          </a:xfrm>
          <a:prstGeom prst="rect">
            <a:avLst/>
          </a:prstGeom>
        </p:spPr>
        <p:txBody>
          <a:bodyPr vert="horz" wrap="square" lIns="0" tIns="287654" rIns="0" bIns="0" rtlCol="0">
            <a:spAutoFit/>
          </a:bodyPr>
          <a:lstStyle/>
          <a:p>
            <a:pPr marL="5099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32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32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Diagram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140" y="979805"/>
            <a:ext cx="7239000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16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200" spc="-30" dirty="0">
                <a:latin typeface="Times New Roman" panose="02020603050405020304"/>
                <a:cs typeface="Times New Roman" panose="02020603050405020304"/>
              </a:rPr>
              <a:t>Sequence</a:t>
            </a:r>
            <a:r>
              <a:rPr sz="32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diagram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9600" y="1577339"/>
              <a:ext cx="8455152" cy="4526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12187428" y="0"/>
                  </a:lnTo>
                  <a:lnTo>
                    <a:pt x="12187428" y="5080"/>
                  </a:lnTo>
                  <a:lnTo>
                    <a:pt x="12187428" y="6852920"/>
                  </a:lnTo>
                  <a:lnTo>
                    <a:pt x="4572" y="6852920"/>
                  </a:lnTo>
                  <a:lnTo>
                    <a:pt x="4572" y="5080"/>
                  </a:lnTo>
                  <a:lnTo>
                    <a:pt x="12187428" y="5080"/>
                  </a:lnTo>
                  <a:lnTo>
                    <a:pt x="121874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685292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857238"/>
                  </a:lnTo>
                  <a:lnTo>
                    <a:pt x="12192000" y="6853428"/>
                  </a:lnTo>
                  <a:lnTo>
                    <a:pt x="12192000" y="6852920"/>
                  </a:lnTo>
                  <a:lnTo>
                    <a:pt x="12192000" y="4572"/>
                  </a:lnTo>
                  <a:lnTo>
                    <a:pt x="12192000" y="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4969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Diagram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98548" y="1600200"/>
              <a:ext cx="6836664" cy="4152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12187428" y="0"/>
                  </a:lnTo>
                  <a:lnTo>
                    <a:pt x="12187428" y="4572"/>
                  </a:lnTo>
                  <a:lnTo>
                    <a:pt x="12187428" y="6853428"/>
                  </a:lnTo>
                  <a:lnTo>
                    <a:pt x="4572" y="6853428"/>
                  </a:lnTo>
                  <a:lnTo>
                    <a:pt x="4572" y="4572"/>
                  </a:lnTo>
                  <a:lnTo>
                    <a:pt x="12187428" y="4572"/>
                  </a:lnTo>
                  <a:lnTo>
                    <a:pt x="12187428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857238"/>
                  </a:lnTo>
                  <a:lnTo>
                    <a:pt x="12192000" y="6853428"/>
                  </a:lnTo>
                  <a:lnTo>
                    <a:pt x="12192000" y="4572"/>
                  </a:lnTo>
                  <a:lnTo>
                    <a:pt x="12192000" y="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61" y="761"/>
            <a:ext cx="12191365" cy="6856730"/>
            <a:chOff x="761" y="761"/>
            <a:chExt cx="12191365" cy="6856730"/>
          </a:xfrm>
        </p:grpSpPr>
        <p:sp>
          <p:nvSpPr>
            <p:cNvPr id="7" name="object 7"/>
            <p:cNvSpPr/>
            <p:nvPr/>
          </p:nvSpPr>
          <p:spPr>
            <a:xfrm>
              <a:off x="762" y="761"/>
              <a:ext cx="12191365" cy="6856730"/>
            </a:xfrm>
            <a:custGeom>
              <a:avLst/>
              <a:gdLst/>
              <a:ahLst/>
              <a:cxnLst/>
              <a:rect l="l" t="t" r="r" b="b"/>
              <a:pathLst>
                <a:path w="12191365" h="6856730">
                  <a:moveTo>
                    <a:pt x="12191238" y="0"/>
                  </a:moveTo>
                  <a:lnTo>
                    <a:pt x="12186666" y="0"/>
                  </a:lnTo>
                  <a:lnTo>
                    <a:pt x="3810" y="0"/>
                  </a:lnTo>
                  <a:lnTo>
                    <a:pt x="0" y="3810"/>
                  </a:lnTo>
                  <a:lnTo>
                    <a:pt x="3810" y="3810"/>
                  </a:lnTo>
                  <a:lnTo>
                    <a:pt x="12186666" y="3810"/>
                  </a:lnTo>
                  <a:lnTo>
                    <a:pt x="12186666" y="6852666"/>
                  </a:lnTo>
                  <a:lnTo>
                    <a:pt x="3810" y="6852666"/>
                  </a:lnTo>
                  <a:lnTo>
                    <a:pt x="0" y="6852666"/>
                  </a:lnTo>
                  <a:lnTo>
                    <a:pt x="3810" y="6856476"/>
                  </a:lnTo>
                  <a:lnTo>
                    <a:pt x="12186666" y="6856476"/>
                  </a:lnTo>
                  <a:lnTo>
                    <a:pt x="12191238" y="6856476"/>
                  </a:lnTo>
                  <a:lnTo>
                    <a:pt x="12191238" y="6852666"/>
                  </a:lnTo>
                  <a:lnTo>
                    <a:pt x="12191238" y="3810"/>
                  </a:lnTo>
                  <a:lnTo>
                    <a:pt x="12191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68224"/>
            <a:ext cx="7393305" cy="384721"/>
          </a:xfrm>
        </p:spPr>
        <p:txBody>
          <a:bodyPr/>
          <a:lstStyle/>
          <a:p>
            <a:r>
              <a:rPr lang="en-US" dirty="0"/>
              <a:t>Implementation of code :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55171" y="1137032"/>
            <a:ext cx="60943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torch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torch.nn</a:t>
            </a:r>
            <a:r>
              <a:rPr lang="en-IN" dirty="0"/>
              <a:t> as </a:t>
            </a:r>
            <a:r>
              <a:rPr lang="en-IN" dirty="0" err="1"/>
              <a:t>nn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torch.nn.functional</a:t>
            </a:r>
            <a:r>
              <a:rPr lang="en-IN" dirty="0"/>
              <a:t> as F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torch_geometric.nn</a:t>
            </a:r>
            <a:r>
              <a:rPr lang="en-IN" dirty="0"/>
              <a:t> import </a:t>
            </a:r>
            <a:r>
              <a:rPr lang="en-IN" dirty="0" err="1"/>
              <a:t>GCNConv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torch_geometric.data</a:t>
            </a:r>
            <a:r>
              <a:rPr lang="en-IN" dirty="0"/>
              <a:t> import Data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ExternalAttention</a:t>
            </a:r>
            <a:r>
              <a:rPr lang="en-IN" dirty="0"/>
              <a:t>(</a:t>
            </a:r>
            <a:r>
              <a:rPr lang="en-IN" dirty="0" err="1"/>
              <a:t>nn.Module</a:t>
            </a:r>
            <a:r>
              <a:rPr lang="en-IN" dirty="0"/>
              <a:t>):</a:t>
            </a:r>
            <a:endParaRPr lang="en-IN" dirty="0"/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d, m=64):</a:t>
            </a:r>
            <a:endParaRPr lang="en-IN" dirty="0"/>
          </a:p>
          <a:p>
            <a:r>
              <a:rPr lang="en-IN" dirty="0"/>
              <a:t>        super().__</a:t>
            </a:r>
            <a:r>
              <a:rPr lang="en-IN" dirty="0" err="1"/>
              <a:t>init</a:t>
            </a:r>
            <a:r>
              <a:rPr lang="en-IN" dirty="0"/>
              <a:t>__()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self.q</a:t>
            </a:r>
            <a:r>
              <a:rPr lang="en-IN" dirty="0"/>
              <a:t> = </a:t>
            </a:r>
            <a:r>
              <a:rPr lang="en-IN" dirty="0" err="1"/>
              <a:t>nn.Linear</a:t>
            </a:r>
            <a:r>
              <a:rPr lang="en-IN" dirty="0"/>
              <a:t>(d, m)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self.k</a:t>
            </a:r>
            <a:r>
              <a:rPr lang="en-IN" dirty="0"/>
              <a:t> = </a:t>
            </a:r>
            <a:r>
              <a:rPr lang="en-IN" dirty="0" err="1"/>
              <a:t>nn.Linear</a:t>
            </a:r>
            <a:r>
              <a:rPr lang="en-IN" dirty="0"/>
              <a:t>(m, d)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def forward(self, x):</a:t>
            </a:r>
            <a:endParaRPr lang="en-IN" dirty="0"/>
          </a:p>
          <a:p>
            <a:r>
              <a:rPr lang="en-IN" dirty="0"/>
              <a:t>        return </a:t>
            </a:r>
            <a:r>
              <a:rPr lang="en-IN" dirty="0" err="1"/>
              <a:t>self.k</a:t>
            </a:r>
            <a:r>
              <a:rPr lang="en-IN" dirty="0"/>
              <a:t>(</a:t>
            </a:r>
            <a:r>
              <a:rPr lang="en-IN" dirty="0" err="1"/>
              <a:t>F.softmax</a:t>
            </a:r>
            <a:r>
              <a:rPr lang="en-IN" dirty="0"/>
              <a:t>(</a:t>
            </a:r>
            <a:r>
              <a:rPr lang="en-IN" dirty="0" err="1"/>
              <a:t>self.q</a:t>
            </a:r>
            <a:r>
              <a:rPr lang="en-IN" dirty="0"/>
              <a:t>(x), dim=1))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7879" y="227826"/>
            <a:ext cx="609432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ASRGCNN(</a:t>
            </a:r>
            <a:r>
              <a:rPr lang="en-IN" dirty="0" err="1"/>
              <a:t>nn.Module</a:t>
            </a:r>
            <a:r>
              <a:rPr lang="en-IN" dirty="0"/>
              <a:t>):</a:t>
            </a:r>
            <a:endParaRPr lang="en-IN" dirty="0"/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__(self, </a:t>
            </a:r>
            <a:r>
              <a:rPr lang="en-IN" dirty="0" err="1"/>
              <a:t>in_f</a:t>
            </a:r>
            <a:r>
              <a:rPr lang="en-IN" dirty="0"/>
              <a:t>, h=64):</a:t>
            </a:r>
            <a:endParaRPr lang="en-IN" dirty="0"/>
          </a:p>
          <a:p>
            <a:r>
              <a:rPr lang="en-IN" dirty="0"/>
              <a:t>        super().__</a:t>
            </a:r>
            <a:r>
              <a:rPr lang="en-IN" dirty="0" err="1"/>
              <a:t>init</a:t>
            </a:r>
            <a:r>
              <a:rPr lang="en-IN" dirty="0"/>
              <a:t>__()</a:t>
            </a:r>
            <a:endParaRPr lang="en-IN" dirty="0"/>
          </a:p>
          <a:p>
            <a:r>
              <a:rPr lang="en-IN" dirty="0"/>
              <a:t>        self.g1 = </a:t>
            </a:r>
            <a:r>
              <a:rPr lang="en-IN" dirty="0" err="1"/>
              <a:t>GCNConv</a:t>
            </a:r>
            <a:r>
              <a:rPr lang="en-IN" dirty="0"/>
              <a:t>(</a:t>
            </a:r>
            <a:r>
              <a:rPr lang="en-IN" dirty="0" err="1"/>
              <a:t>in_f</a:t>
            </a:r>
            <a:r>
              <a:rPr lang="en-IN" dirty="0"/>
              <a:t>, h)</a:t>
            </a:r>
            <a:endParaRPr lang="en-IN" dirty="0"/>
          </a:p>
          <a:p>
            <a:r>
              <a:rPr lang="en-IN" dirty="0"/>
              <a:t>        self.g2 = </a:t>
            </a:r>
            <a:r>
              <a:rPr lang="en-IN" dirty="0" err="1"/>
              <a:t>GCNConv</a:t>
            </a:r>
            <a:r>
              <a:rPr lang="en-IN" dirty="0"/>
              <a:t>(h, h)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self.attn</a:t>
            </a:r>
            <a:r>
              <a:rPr lang="en-IN" dirty="0"/>
              <a:t> = </a:t>
            </a:r>
            <a:r>
              <a:rPr lang="en-IN" dirty="0" err="1"/>
              <a:t>ExternalAttention</a:t>
            </a:r>
            <a:r>
              <a:rPr lang="en-IN" dirty="0"/>
              <a:t>(h)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self.fc</a:t>
            </a:r>
            <a:r>
              <a:rPr lang="en-IN" dirty="0"/>
              <a:t> = </a:t>
            </a:r>
            <a:r>
              <a:rPr lang="en-IN" dirty="0" err="1"/>
              <a:t>nn.Linear</a:t>
            </a:r>
            <a:r>
              <a:rPr lang="en-IN" dirty="0"/>
              <a:t>(h, 1)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def forward(self, x, e):</a:t>
            </a:r>
            <a:endParaRPr lang="en-IN" dirty="0"/>
          </a:p>
          <a:p>
            <a:r>
              <a:rPr lang="en-IN" dirty="0"/>
              <a:t>        x = </a:t>
            </a:r>
            <a:r>
              <a:rPr lang="en-IN" dirty="0" err="1"/>
              <a:t>F.relu</a:t>
            </a:r>
            <a:r>
              <a:rPr lang="en-IN" dirty="0"/>
              <a:t>(self.g1(x, e))</a:t>
            </a:r>
            <a:endParaRPr lang="en-IN" dirty="0"/>
          </a:p>
          <a:p>
            <a:r>
              <a:rPr lang="en-IN" dirty="0"/>
              <a:t>        x = </a:t>
            </a:r>
            <a:r>
              <a:rPr lang="en-IN" dirty="0" err="1"/>
              <a:t>F.relu</a:t>
            </a:r>
            <a:r>
              <a:rPr lang="en-IN" dirty="0"/>
              <a:t>(self.g2(x, e))</a:t>
            </a:r>
            <a:endParaRPr lang="en-IN" dirty="0"/>
          </a:p>
          <a:p>
            <a:r>
              <a:rPr lang="en-IN" dirty="0"/>
              <a:t>        x = </a:t>
            </a:r>
            <a:r>
              <a:rPr lang="en-IN" dirty="0" err="1"/>
              <a:t>self.attn</a:t>
            </a:r>
            <a:r>
              <a:rPr lang="en-IN" dirty="0"/>
              <a:t>(x)</a:t>
            </a:r>
            <a:endParaRPr lang="en-IN" dirty="0"/>
          </a:p>
          <a:p>
            <a:r>
              <a:rPr lang="en-IN" dirty="0"/>
              <a:t>        return </a:t>
            </a:r>
            <a:r>
              <a:rPr lang="en-IN" dirty="0" err="1"/>
              <a:t>self.fc</a:t>
            </a:r>
            <a:r>
              <a:rPr lang="en-IN" dirty="0"/>
              <a:t>(x)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# dummy data</a:t>
            </a:r>
            <a:endParaRPr lang="en-IN" dirty="0"/>
          </a:p>
          <a:p>
            <a:r>
              <a:rPr lang="en-IN" dirty="0"/>
              <a:t>n, f = 100, 10</a:t>
            </a:r>
            <a:endParaRPr lang="en-IN" dirty="0"/>
          </a:p>
          <a:p>
            <a:r>
              <a:rPr lang="en-IN" dirty="0"/>
              <a:t>data = Data(</a:t>
            </a:r>
            <a:endParaRPr lang="en-IN" dirty="0"/>
          </a:p>
          <a:p>
            <a:r>
              <a:rPr lang="en-IN" dirty="0"/>
              <a:t>    x=</a:t>
            </a:r>
            <a:r>
              <a:rPr lang="en-IN" dirty="0" err="1"/>
              <a:t>torch.randn</a:t>
            </a:r>
            <a:r>
              <a:rPr lang="en-IN" dirty="0"/>
              <a:t>(n, f),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edge_index</a:t>
            </a:r>
            <a:r>
              <a:rPr lang="en-IN" dirty="0"/>
              <a:t>=</a:t>
            </a:r>
            <a:r>
              <a:rPr lang="en-IN" dirty="0" err="1"/>
              <a:t>torch.randint</a:t>
            </a:r>
            <a:r>
              <a:rPr lang="en-IN" dirty="0"/>
              <a:t>(0, n, (2, 300)),</a:t>
            </a:r>
            <a:endParaRPr lang="en-IN" dirty="0"/>
          </a:p>
          <a:p>
            <a:r>
              <a:rPr lang="en-IN" dirty="0"/>
              <a:t>    y=</a:t>
            </a:r>
            <a:r>
              <a:rPr lang="en-IN" dirty="0" err="1"/>
              <a:t>torch.randn</a:t>
            </a:r>
            <a:r>
              <a:rPr lang="en-IN" dirty="0"/>
              <a:t>(n, 1),</a:t>
            </a:r>
            <a:endParaRPr lang="en-IN" dirty="0"/>
          </a:p>
          <a:p>
            <a:r>
              <a:rPr lang="en-IN" dirty="0"/>
              <a:t>)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7105" y="1064516"/>
            <a:ext cx="672988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model = ASRGCNN(f)</a:t>
            </a:r>
            <a:endParaRPr lang="en-IN" dirty="0"/>
          </a:p>
          <a:p>
            <a:r>
              <a:rPr lang="en-IN" dirty="0"/>
              <a:t>opt = </a:t>
            </a:r>
            <a:r>
              <a:rPr lang="en-IN" dirty="0" err="1"/>
              <a:t>torch.optim.Adam</a:t>
            </a:r>
            <a:r>
              <a:rPr lang="en-IN" dirty="0"/>
              <a:t>(</a:t>
            </a:r>
            <a:r>
              <a:rPr lang="en-IN" dirty="0" err="1"/>
              <a:t>model.parameters</a:t>
            </a:r>
            <a:r>
              <a:rPr lang="en-IN" dirty="0"/>
              <a:t>(), </a:t>
            </a:r>
            <a:r>
              <a:rPr lang="en-IN" dirty="0" err="1"/>
              <a:t>lr</a:t>
            </a:r>
            <a:r>
              <a:rPr lang="en-IN" dirty="0"/>
              <a:t>=0.001)</a:t>
            </a:r>
            <a:endParaRPr lang="en-IN" dirty="0"/>
          </a:p>
          <a:p>
            <a:r>
              <a:rPr lang="en-IN" dirty="0" err="1"/>
              <a:t>loss_fn</a:t>
            </a:r>
            <a:r>
              <a:rPr lang="en-IN" dirty="0"/>
              <a:t> = </a:t>
            </a:r>
            <a:r>
              <a:rPr lang="en-IN" dirty="0" err="1"/>
              <a:t>nn.MSELoss</a:t>
            </a:r>
            <a:r>
              <a:rPr lang="en-IN" dirty="0"/>
              <a:t>()</a:t>
            </a:r>
            <a:endParaRPr lang="en-IN" dirty="0"/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range(100):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opt.zero_grad</a:t>
            </a:r>
            <a:r>
              <a:rPr lang="en-IN" dirty="0"/>
              <a:t>()</a:t>
            </a:r>
            <a:endParaRPr lang="en-IN" dirty="0"/>
          </a:p>
          <a:p>
            <a:r>
              <a:rPr lang="en-IN" dirty="0"/>
              <a:t>    loss = </a:t>
            </a:r>
            <a:r>
              <a:rPr lang="en-IN" dirty="0" err="1"/>
              <a:t>loss_fn</a:t>
            </a:r>
            <a:r>
              <a:rPr lang="en-IN" dirty="0"/>
              <a:t>(model(</a:t>
            </a:r>
            <a:r>
              <a:rPr lang="en-IN" dirty="0" err="1"/>
              <a:t>data.x</a:t>
            </a:r>
            <a:r>
              <a:rPr lang="en-IN" dirty="0"/>
              <a:t>, </a:t>
            </a:r>
            <a:r>
              <a:rPr lang="en-IN" dirty="0" err="1"/>
              <a:t>data.edge_index</a:t>
            </a:r>
            <a:r>
              <a:rPr lang="en-IN" dirty="0"/>
              <a:t>), </a:t>
            </a:r>
            <a:r>
              <a:rPr lang="en-IN" dirty="0" err="1"/>
              <a:t>data.y</a:t>
            </a:r>
            <a:r>
              <a:rPr lang="en-IN" dirty="0"/>
              <a:t>)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loss.backward</a:t>
            </a:r>
            <a:r>
              <a:rPr lang="en-IN" dirty="0"/>
              <a:t>()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opt.step</a:t>
            </a:r>
            <a:r>
              <a:rPr lang="en-IN" dirty="0"/>
              <a:t>()</a:t>
            </a:r>
            <a:endParaRPr lang="en-IN" dirty="0"/>
          </a:p>
          <a:p>
            <a:r>
              <a:rPr lang="en-IN" dirty="0"/>
              <a:t>    if (</a:t>
            </a:r>
            <a:r>
              <a:rPr lang="en-IN" dirty="0" err="1"/>
              <a:t>i</a:t>
            </a:r>
            <a:r>
              <a:rPr lang="en-IN" dirty="0"/>
              <a:t> + 1) % 10 == 0:</a:t>
            </a:r>
            <a:endParaRPr lang="en-IN" dirty="0"/>
          </a:p>
          <a:p>
            <a:r>
              <a:rPr lang="en-IN" dirty="0"/>
              <a:t>        print("Epoch", </a:t>
            </a:r>
            <a:r>
              <a:rPr lang="en-IN" dirty="0" err="1"/>
              <a:t>i</a:t>
            </a:r>
            <a:r>
              <a:rPr lang="en-IN" dirty="0"/>
              <a:t> + 1, "Loss", round(</a:t>
            </a:r>
            <a:r>
              <a:rPr lang="en-IN" dirty="0" err="1"/>
              <a:t>loss.item</a:t>
            </a:r>
            <a:r>
              <a:rPr lang="en-IN" dirty="0"/>
              <a:t>(), 4))</a:t>
            </a:r>
            <a:endParaRPr lang="en-IN" dirty="0"/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nPredictions</a:t>
            </a:r>
            <a:r>
              <a:rPr lang="en-IN" dirty="0"/>
              <a:t>:\n", model(</a:t>
            </a:r>
            <a:r>
              <a:rPr lang="en-IN" dirty="0" err="1"/>
              <a:t>data.x</a:t>
            </a:r>
            <a:r>
              <a:rPr lang="en-IN" dirty="0"/>
              <a:t>, </a:t>
            </a:r>
            <a:r>
              <a:rPr lang="en-IN" dirty="0" err="1"/>
              <a:t>data.edge_index</a:t>
            </a:r>
            <a:r>
              <a:rPr lang="en-IN" dirty="0"/>
              <a:t>)[:5])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OUTPUT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Content Placeholder 10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319530" y="906780"/>
            <a:ext cx="903351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Screenshot 2026-03-13 094547"/>
          <p:cNvPicPr>
            <a:picLocks noChangeAspect="1"/>
          </p:cNvPicPr>
          <p:nvPr>
            <p:ph sz="half" idx="2"/>
          </p:nvPr>
        </p:nvPicPr>
        <p:blipFill>
          <a:blip r:embed="rId1"/>
          <a:srcRect l="27832" r="27832"/>
          <a:stretch>
            <a:fillRect/>
          </a:stretch>
        </p:blipFill>
        <p:spPr>
          <a:xfrm>
            <a:off x="1162685" y="951230"/>
            <a:ext cx="90957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9600" y="690880"/>
            <a:ext cx="10497820" cy="56280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21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40" dirty="0"/>
              <a:t> </a:t>
            </a:r>
            <a:r>
              <a:rPr dirty="0"/>
              <a:t>SCOPE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PROJECT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634109"/>
            <a:ext cx="9464040" cy="20066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Build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accurately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predicts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estate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prices.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location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understand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relationships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properties.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Improve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prediction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external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mechanism.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datasets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check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general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performance.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95910" indent="-2832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Compare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machine-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show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effectiveness.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3060" indent="-34036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3060" algn="l"/>
              </a:tabLst>
            </a:pPr>
            <a:r>
              <a:rPr spc="-10" dirty="0"/>
              <a:t>The</a:t>
            </a:r>
            <a:r>
              <a:rPr spc="-110" dirty="0"/>
              <a:t> </a:t>
            </a:r>
            <a:r>
              <a:rPr spc="-10" dirty="0"/>
              <a:t>model</a:t>
            </a:r>
            <a:r>
              <a:rPr spc="-100" dirty="0"/>
              <a:t> </a:t>
            </a:r>
            <a:r>
              <a:rPr dirty="0"/>
              <a:t>can</a:t>
            </a:r>
            <a:r>
              <a:rPr spc="-105" dirty="0"/>
              <a:t> </a:t>
            </a:r>
            <a:r>
              <a:rPr spc="-10" dirty="0"/>
              <a:t>predict</a:t>
            </a:r>
            <a:r>
              <a:rPr spc="-100" dirty="0"/>
              <a:t> </a:t>
            </a:r>
            <a:r>
              <a:rPr spc="-10" dirty="0"/>
              <a:t>house</a:t>
            </a:r>
            <a:r>
              <a:rPr spc="-100" dirty="0"/>
              <a:t> </a:t>
            </a:r>
            <a:r>
              <a:rPr spc="-10" dirty="0"/>
              <a:t>prices</a:t>
            </a:r>
            <a:r>
              <a:rPr spc="-100" dirty="0"/>
              <a:t> </a:t>
            </a:r>
            <a:r>
              <a:rPr spc="-25" dirty="0"/>
              <a:t>accurately</a:t>
            </a:r>
            <a:r>
              <a:rPr spc="-12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works</a:t>
            </a:r>
            <a:r>
              <a:rPr spc="-110" dirty="0"/>
              <a:t> </a:t>
            </a:r>
            <a:r>
              <a:rPr dirty="0"/>
              <a:t>very</a:t>
            </a:r>
            <a:r>
              <a:rPr spc="-95" dirty="0"/>
              <a:t> </a:t>
            </a:r>
            <a:r>
              <a:rPr spc="-10" dirty="0"/>
              <a:t>well.</a:t>
            </a:r>
            <a:endParaRPr spc="-10" dirty="0"/>
          </a:p>
          <a:p>
            <a:pPr marL="353060" indent="-34036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/>
              <a:t>The</a:t>
            </a:r>
            <a:r>
              <a:rPr spc="-105" dirty="0"/>
              <a:t> </a:t>
            </a:r>
            <a:r>
              <a:rPr spc="-20" dirty="0"/>
              <a:t>attention</a:t>
            </a:r>
            <a:r>
              <a:rPr spc="-105" dirty="0"/>
              <a:t> </a:t>
            </a:r>
            <a:r>
              <a:rPr spc="-10" dirty="0"/>
              <a:t>layer</a:t>
            </a:r>
            <a:r>
              <a:rPr spc="-95" dirty="0"/>
              <a:t> </a:t>
            </a:r>
            <a:r>
              <a:rPr dirty="0"/>
              <a:t>helps</a:t>
            </a:r>
            <a:r>
              <a:rPr spc="-10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model</a:t>
            </a:r>
            <a:r>
              <a:rPr spc="-95" dirty="0"/>
              <a:t> </a:t>
            </a:r>
            <a:r>
              <a:rPr spc="-20" dirty="0"/>
              <a:t>understand</a:t>
            </a:r>
            <a:r>
              <a:rPr spc="-110" dirty="0"/>
              <a:t> </a:t>
            </a:r>
            <a:r>
              <a:rPr spc="-20" dirty="0"/>
              <a:t>important</a:t>
            </a:r>
            <a:r>
              <a:rPr spc="-105" dirty="0"/>
              <a:t> </a:t>
            </a:r>
            <a:r>
              <a:rPr spc="-10" dirty="0"/>
              <a:t>links</a:t>
            </a:r>
            <a:r>
              <a:rPr spc="-105" dirty="0"/>
              <a:t> </a:t>
            </a:r>
            <a:r>
              <a:rPr spc="-20" dirty="0"/>
              <a:t>between</a:t>
            </a:r>
            <a:r>
              <a:rPr spc="-105" dirty="0"/>
              <a:t> </a:t>
            </a:r>
            <a:r>
              <a:rPr spc="-10" dirty="0"/>
              <a:t>houses.</a:t>
            </a:r>
            <a:endParaRPr spc="-10" dirty="0"/>
          </a:p>
          <a:p>
            <a:pPr marL="353060" indent="-34036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/>
              <a:t>It</a:t>
            </a:r>
            <a:r>
              <a:rPr spc="-100" dirty="0"/>
              <a:t> </a:t>
            </a:r>
            <a:r>
              <a:rPr spc="-10" dirty="0"/>
              <a:t>performs</a:t>
            </a:r>
            <a:r>
              <a:rPr spc="-85" dirty="0"/>
              <a:t> </a:t>
            </a:r>
            <a:r>
              <a:rPr spc="-10" dirty="0"/>
              <a:t>better</a:t>
            </a:r>
            <a:r>
              <a:rPr spc="-90" dirty="0"/>
              <a:t> </a:t>
            </a:r>
            <a:r>
              <a:rPr dirty="0"/>
              <a:t>than</a:t>
            </a:r>
            <a:r>
              <a:rPr spc="-85" dirty="0"/>
              <a:t> </a:t>
            </a:r>
            <a:r>
              <a:rPr spc="-10" dirty="0"/>
              <a:t>many</a:t>
            </a:r>
            <a:r>
              <a:rPr spc="-90" dirty="0"/>
              <a:t> </a:t>
            </a:r>
            <a:r>
              <a:rPr spc="-10" dirty="0"/>
              <a:t>common</a:t>
            </a:r>
            <a:r>
              <a:rPr spc="-90" dirty="0"/>
              <a:t> </a:t>
            </a:r>
            <a:r>
              <a:rPr spc="-70" dirty="0"/>
              <a:t>machine-</a:t>
            </a:r>
            <a:r>
              <a:rPr spc="-10" dirty="0"/>
              <a:t>learning</a:t>
            </a:r>
            <a:r>
              <a:rPr spc="-85" dirty="0"/>
              <a:t> </a:t>
            </a:r>
            <a:r>
              <a:rPr spc="-10" dirty="0"/>
              <a:t>models.</a:t>
            </a:r>
            <a:endParaRPr spc="-10" dirty="0"/>
          </a:p>
          <a:p>
            <a:pPr marL="353060" indent="-34036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/>
              <a:t>It</a:t>
            </a:r>
            <a:r>
              <a:rPr spc="-120" dirty="0"/>
              <a:t> </a:t>
            </a:r>
            <a:r>
              <a:rPr dirty="0"/>
              <a:t>can</a:t>
            </a:r>
            <a:r>
              <a:rPr spc="-100" dirty="0"/>
              <a:t> </a:t>
            </a:r>
            <a:r>
              <a:rPr spc="-10" dirty="0"/>
              <a:t>predict</a:t>
            </a:r>
            <a:r>
              <a:rPr spc="-110" dirty="0"/>
              <a:t> </a:t>
            </a:r>
            <a:r>
              <a:rPr spc="-10" dirty="0"/>
              <a:t>prices</a:t>
            </a:r>
            <a:r>
              <a:rPr spc="-105" dirty="0"/>
              <a:t> </a:t>
            </a:r>
            <a:r>
              <a:rPr dirty="0"/>
              <a:t>in</a:t>
            </a:r>
            <a:r>
              <a:rPr spc="-110" dirty="0"/>
              <a:t> </a:t>
            </a:r>
            <a:r>
              <a:rPr spc="-10" dirty="0"/>
              <a:t>different</a:t>
            </a:r>
            <a:r>
              <a:rPr spc="-105" dirty="0"/>
              <a:t> </a:t>
            </a:r>
            <a:r>
              <a:rPr dirty="0"/>
              <a:t>areas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future</a:t>
            </a:r>
            <a:r>
              <a:rPr spc="-95" dirty="0"/>
              <a:t> </a:t>
            </a:r>
            <a:r>
              <a:rPr dirty="0"/>
              <a:t>times</a:t>
            </a:r>
            <a:r>
              <a:rPr spc="-105" dirty="0"/>
              <a:t> </a:t>
            </a:r>
            <a:r>
              <a:rPr spc="-10" dirty="0"/>
              <a:t>effectively.</a:t>
            </a:r>
            <a:endParaRPr spc="-10" dirty="0"/>
          </a:p>
          <a:p>
            <a:pPr marL="353060" indent="-34036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3060" algn="l"/>
              </a:tabLst>
            </a:pPr>
            <a:r>
              <a:rPr spc="-10" dirty="0"/>
              <a:t>Overall,</a:t>
            </a:r>
            <a:r>
              <a:rPr spc="-12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-10" dirty="0"/>
              <a:t>model</a:t>
            </a:r>
            <a:r>
              <a:rPr spc="-110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spc="-10" dirty="0"/>
              <a:t>useful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reliable</a:t>
            </a:r>
            <a:r>
              <a:rPr spc="-100" dirty="0"/>
              <a:t> </a:t>
            </a:r>
            <a:r>
              <a:rPr dirty="0"/>
              <a:t>for</a:t>
            </a:r>
            <a:r>
              <a:rPr spc="-110" dirty="0"/>
              <a:t> </a:t>
            </a:r>
            <a:r>
              <a:rPr dirty="0"/>
              <a:t>real</a:t>
            </a:r>
            <a:r>
              <a:rPr spc="-114" dirty="0"/>
              <a:t> </a:t>
            </a:r>
            <a:r>
              <a:rPr dirty="0"/>
              <a:t>estate</a:t>
            </a:r>
            <a:r>
              <a:rPr spc="-110" dirty="0"/>
              <a:t> </a:t>
            </a:r>
            <a:r>
              <a:rPr dirty="0"/>
              <a:t>price</a:t>
            </a:r>
            <a:r>
              <a:rPr spc="-105" dirty="0"/>
              <a:t> </a:t>
            </a:r>
            <a:r>
              <a:rPr spc="-10" dirty="0"/>
              <a:t>estimation.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2187428" y="0"/>
                </a:lnTo>
                <a:lnTo>
                  <a:pt x="12187428" y="5080"/>
                </a:lnTo>
                <a:lnTo>
                  <a:pt x="12187428" y="6852920"/>
                </a:lnTo>
                <a:lnTo>
                  <a:pt x="4572" y="6852920"/>
                </a:lnTo>
                <a:lnTo>
                  <a:pt x="4572" y="5080"/>
                </a:lnTo>
                <a:lnTo>
                  <a:pt x="12187428" y="5080"/>
                </a:lnTo>
                <a:lnTo>
                  <a:pt x="12187428" y="0"/>
                </a:lnTo>
                <a:lnTo>
                  <a:pt x="0" y="0"/>
                </a:lnTo>
                <a:lnTo>
                  <a:pt x="0" y="5080"/>
                </a:lnTo>
                <a:lnTo>
                  <a:pt x="0" y="685292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238"/>
                </a:lnTo>
                <a:lnTo>
                  <a:pt x="12192000" y="6853428"/>
                </a:lnTo>
                <a:lnTo>
                  <a:pt x="12192000" y="6852920"/>
                </a:lnTo>
                <a:lnTo>
                  <a:pt x="12192000" y="4572"/>
                </a:lnTo>
                <a:lnTo>
                  <a:pt x="12192000" y="76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52800" y="1295400"/>
            <a:ext cx="5181600" cy="44196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12187428" y="0"/>
                  </a:lnTo>
                  <a:lnTo>
                    <a:pt x="12187428" y="5080"/>
                  </a:lnTo>
                  <a:lnTo>
                    <a:pt x="12187428" y="6852920"/>
                  </a:lnTo>
                  <a:lnTo>
                    <a:pt x="4572" y="6852920"/>
                  </a:lnTo>
                  <a:lnTo>
                    <a:pt x="4572" y="5080"/>
                  </a:lnTo>
                  <a:lnTo>
                    <a:pt x="12187428" y="5080"/>
                  </a:lnTo>
                  <a:lnTo>
                    <a:pt x="12187428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685292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6857238"/>
                  </a:lnTo>
                  <a:lnTo>
                    <a:pt x="12192000" y="6853428"/>
                  </a:lnTo>
                  <a:lnTo>
                    <a:pt x="12192000" y="6852920"/>
                  </a:lnTo>
                  <a:lnTo>
                    <a:pt x="12192000" y="4572"/>
                  </a:lnTo>
                  <a:lnTo>
                    <a:pt x="12192000" y="76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9369</Words>
  <Application>WPS Presentation</Application>
  <PresentationFormat>Widescreen</PresentationFormat>
  <Paragraphs>296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SimSun</vt:lpstr>
      <vt:lpstr>Wingdings</vt:lpstr>
      <vt:lpstr>Arial</vt:lpstr>
      <vt:lpstr>Times New Roman</vt:lpstr>
      <vt:lpstr>Arial MT</vt:lpstr>
      <vt:lpstr>Calibri</vt:lpstr>
      <vt:lpstr>Microsoft YaHei</vt:lpstr>
      <vt:lpstr>Arial Unicode MS</vt:lpstr>
      <vt:lpstr>Office Theme</vt:lpstr>
      <vt:lpstr>A MAJOR PROJECT REVIEW ON</vt:lpstr>
      <vt:lpstr>PowerPoint 演示文稿</vt:lpstr>
      <vt:lpstr>ABSTRACT :</vt:lpstr>
      <vt:lpstr>INTRODUCTION:</vt:lpstr>
      <vt:lpstr>LITERATURE SURVEY:</vt:lpstr>
      <vt:lpstr>EXISTING SYSTEM</vt:lpstr>
      <vt:lpstr>PROBLEM STATEMENT JUSTIFICATION</vt:lpstr>
      <vt:lpstr>OBJECTIVES OF THE PROPOSED SYSTEM</vt:lpstr>
      <vt:lpstr>BLOCK DIAGRAM</vt:lpstr>
      <vt:lpstr>PowerPoint 演示文稿</vt:lpstr>
      <vt:lpstr>PowerPoint 演示文稿</vt:lpstr>
      <vt:lpstr>METHODOLOGIES OF THE PROPOSED SYSTEM</vt:lpstr>
      <vt:lpstr>PowerPoint 演示文稿</vt:lpstr>
      <vt:lpstr>DESIGN PHASE OF PROPOSED SYSTEM</vt:lpstr>
      <vt:lpstr>UML DIAGRAMS</vt:lpstr>
      <vt:lpstr>Use Case Diagram</vt:lpstr>
      <vt:lpstr>Sequence diagram</vt:lpstr>
      <vt:lpstr>Data Flow Diagram</vt:lpstr>
      <vt:lpstr>Implementation of code :</vt:lpstr>
      <vt:lpstr>PowerPoint 演示文稿</vt:lpstr>
      <vt:lpstr>PowerPoint 演示文稿</vt:lpstr>
      <vt:lpstr>OUTPUT</vt:lpstr>
      <vt:lpstr>PowerPoint 演示文稿</vt:lpstr>
      <vt:lpstr>PowerPoint 演示文稿</vt:lpstr>
      <vt:lpstr>FUTURE SCOPE OF THE PROJECT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Mahitha Gunda</cp:lastModifiedBy>
  <cp:revision>6</cp:revision>
  <dcterms:created xsi:type="dcterms:W3CDTF">2026-03-13T02:28:59Z</dcterms:created>
  <dcterms:modified xsi:type="dcterms:W3CDTF">2026-03-13T06:08:02Z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3102954BD52247A7962977F6BFBB2EE9_12</vt:lpwstr>
  </property>
  <property fmtid="{D5CDD505-2E9C-101B-9397-08002B2CF9AE}" pid="3" name="KSOProductBuildVer">
    <vt:lpwstr>2057-12.2.0.23196</vt:lpwstr>
  </property>
</Properties>
</file>